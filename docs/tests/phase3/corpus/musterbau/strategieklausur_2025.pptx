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34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EE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E7F00"/>
                </a:solidFill>
              </a:rPr>
              <a:t>Musterbau GmbH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Strategieklausur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Dortmund, 14. Januar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Werner Kahlert (MA-001) · Geschäftsführer
Dr. Monika Steinhoff (MA-002 ab 01.04.2025) · CFO designiert
Sabine Rühle (MA-006) · Vertriebsleiterin
Tobias Wernecke (MA-011) · Engineering-Leiter
Franz-Josef Metzler (MA-016) · Produktionsleiter
Inga Hollmann (MA-022) · Verwaltungsleiterin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1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213452"/>
                </a:solidFill>
              </a:rPr>
              <a:t>•  1.  Rückblick 2024 — Meilensteine und Learnings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13452"/>
                </a:solidFill>
              </a:rPr>
              <a:t>•  2.  Finanzen 2025 — Plangrößen und Ziele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13452"/>
                </a:solidFill>
              </a:rPr>
              <a:t>•  3.  Großkunden-Übersicht — Key-Accounts im Fokus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13452"/>
                </a:solidFill>
              </a:rPr>
              <a:t>•  4.  Produktlinien PIMS-A bis PIMS-E — Stand und Roadmap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13452"/>
                </a:solidFill>
              </a:rPr>
              <a:t>•  5.  Strategische Initiativen 2025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13452"/>
                </a:solidFill>
              </a:rPr>
              <a:t>•  6.  Risiken und Gegenmaßnahmen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13452"/>
                </a:solidFill>
              </a:rPr>
              <a:t>•  7.  Ausblick 2026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13452"/>
                </a:solidFill>
              </a:rPr>
              <a:t>•  8.  Schlussworte und nächste Schritte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34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56032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Rückblick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02336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E7F00"/>
                </a:solidFill>
              </a:rPr>
              <a:t>Meilensteine · Learnings · Weichenstellungen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1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Rückblick 2024 —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213452"/>
                </a:solidFill>
              </a:rPr>
              <a:t>•  Umsatzwachstum gegenüber Vorjahr: +6,3 % (angestrebtes Zielband: 5–8 %)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13452"/>
                </a:solidFill>
              </a:rPr>
              <a:t>•  Rahmenvertrag mit Bramkamp Industrietechnik GmbH (KD-007) vorbereitet — Abschluss Q2/2025 mit Dirk Hammerschmidt (MA-007) als Key-Account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13452"/>
                </a:solidFill>
              </a:rPr>
              <a:t>•  PIMS-D Predictive-Maintenance-Modul: Markteinführung plangemäß; erste drei Pilotinstallationen im Anlagenbau-Segment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13452"/>
                </a:solidFill>
              </a:rPr>
              <a:t>•  ISO 9001-Rezertifizierung erfolgreich: Audit-Termin für April 2025 fixiert (Verantwortung: Franz-Josef Metzler MA-016, Sandra Kemper MA-019)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13452"/>
                </a:solidFill>
              </a:rPr>
              <a:t>•  CFO Klaus-Dieter Frommann kündigt Ruhestand zum 31.03.2025 an; Nachfolgeprozess wird bis Jahresende abgeschlossen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13452"/>
                </a:solidFill>
              </a:rPr>
              <a:t>•  Herausforderung: Lieferkettenengpässe bei Feldbus-Komponenten — Entwicklungs-Team (Tobias Wernecke MA-011) leitet Alternativlieferanten-Analyse ein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1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Finanzen 2025 — Planzahlen und Ziele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13452"/>
                </a:solidFill>
              </a:rPr>
              <a:t>•  Umsatzerlöse (Ziel):       18.450.000 €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13452"/>
                </a:solidFill>
              </a:rPr>
              <a:t>•  EBIT (Ziel):                1.550.000 €   |   EBIT-Marge: 8,4 %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13452"/>
                </a:solidFill>
              </a:rPr>
              <a:t>•  Jahresüberschuss (Ziel):      930.000 €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13452"/>
                </a:solidFill>
              </a:rPr>
              <a:t>•  Personalaufwand:            7.196.000 €   (39,0 % vom Umsatz, 127 FTE)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13452"/>
                </a:solidFill>
              </a:rPr>
              <a:t>•  Bilanzsumme (Ziel 31.12.):  9.050.000 €   |   Eigenkapital: 4.230.000 €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13452"/>
                </a:solidFill>
              </a:rPr>
              <a:t>•  Cashflow aus lfd. Geschäftstätigkeit:  1.050.000 €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13452"/>
                </a:solidFill>
              </a:rPr>
              <a:t>•  Endbestand Zahlungsmittel (31.12.):      680.000 €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13452"/>
                </a:solidFill>
              </a:rPr>
              <a:t>•  CFO-Verantwortung: Dr. Monika Steinhoff (MA-002, ab 01.04.2025) — Brandner-Rücklage wird zum Stichtag CFO-Wechsel neu bewertet (Ereignis E-02)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13452"/>
                </a:solidFill>
              </a:rPr>
              <a:t>•  Finanzbuchhaltung: Benedikt Falk (MA-023) · Lohnbuchhaltung: Silke Thomsen (MA-024)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1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Großkunden-Übersicht 2025 (Jahresumsatz ≥ 400.000 €)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7455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3200400"/>
                <a:gridCol w="822960"/>
                <a:gridCol w="1005840"/>
                <a:gridCol w="5239512"/>
              </a:tblGrid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Kunden-ID</a:t>
                      </a:r>
                    </a:p>
                  </a:txBody>
                  <a:tcPr>
                    <a:solidFill>
                      <a:srgbClr val="2134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2134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Branche</a:t>
                      </a:r>
                    </a:p>
                  </a:txBody>
                  <a:tcPr>
                    <a:solidFill>
                      <a:srgbClr val="2134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Bundesland</a:t>
                      </a:r>
                    </a:p>
                  </a:txBody>
                  <a:tcPr>
                    <a:solidFill>
                      <a:srgbClr val="2134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Jahresumsatz 2025 / Key-Account</a:t>
                      </a:r>
                    </a:p>
                  </a:txBody>
                  <a:tcPr>
                    <a:solidFill>
                      <a:srgbClr val="213452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3452"/>
                          </a:solidFill>
                        </a:rPr>
                        <a:t>KD-007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3452"/>
                          </a:solidFill>
                        </a:rPr>
                        <a:t>Bramkamp Industrietechnik GmbH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3452"/>
                          </a:solidFill>
                        </a:rPr>
                        <a:t>ANL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3452"/>
                          </a:solidFill>
                        </a:rPr>
                        <a:t>NRW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3452"/>
                          </a:solidFill>
                        </a:rPr>
                        <a:t>742.000 €  —  Dirk Hammerschmidt (MA-007)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3452"/>
                          </a:solidFill>
                        </a:rPr>
                        <a:t>KD-034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3452"/>
                          </a:solidFill>
                        </a:rPr>
                        <a:t>Rheinische Anlagenbau 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3452"/>
                          </a:solidFill>
                        </a:rPr>
                        <a:t>ANL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3452"/>
                          </a:solidFill>
                        </a:rPr>
                        <a:t>NRW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3452"/>
                          </a:solidFill>
                        </a:rPr>
                        <a:t>683.000 €  —  Dirk Hammerschmidt (MA-007)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3452"/>
                          </a:solidFill>
                        </a:rPr>
                        <a:t>KD-021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3452"/>
                          </a:solidFill>
                        </a:rPr>
                        <a:t>Bayerische Stahlbau GmbH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3452"/>
                          </a:solidFill>
                        </a:rPr>
                        <a:t>MAS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3452"/>
                          </a:solidFill>
                        </a:rPr>
                        <a:t>BAY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3452"/>
                          </a:solidFill>
                        </a:rPr>
                        <a:t>561.000 €  —  Holger Brandt (MA-004)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3452"/>
                          </a:solidFill>
                        </a:rPr>
                        <a:t>KD-015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3452"/>
                          </a:solidFill>
                        </a:rPr>
                        <a:t>Stadtwerke Gelsenkirchen AöR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3452"/>
                          </a:solidFill>
                        </a:rPr>
                        <a:t>ENE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3452"/>
                          </a:solidFill>
                        </a:rPr>
                        <a:t>NRW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3452"/>
                          </a:solidFill>
                        </a:rPr>
                        <a:t>437.000 €  —  Carsten Voigt (MA-009)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3452"/>
                </a:solidFill>
              </a:rPr>
              <a:t>Summe Top-4-Großkunden: 2.423.000 €  |  Gesamtkundenumsatz: 10.064.000 €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1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Produktlinien PIMS-A bis PIMS-E — Stand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13452"/>
                </a:solidFill>
              </a:rPr>
              <a:t>•  PIMS-A  Basismodul           48.900 €  netto — Echtzeit-Prozessüberwachung, 24-Kanal-Datenerfassung, Alarmmanagement; umsatzstärkstes Produkt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13452"/>
                </a:solidFill>
              </a:rPr>
              <a:t>•  PIMS-B  Analytics            18.500 €  netto — Trendanalyse, Berichtsexport; setzt PIMS-A voraus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13452"/>
                </a:solidFill>
              </a:rPr>
              <a:t>•  PIMS-C  Feldbus-Integration  12.200 €  netto — Profibus / Modbus / OPC-UA; Lieferkettenengpass 2024 behoben (Tobias Wernecke MA-011)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13452"/>
                </a:solidFill>
              </a:rPr>
              <a:t>•  PIMS-D  Predictive Maintenance  29.700 €  netto — KI-gestützte Ausfallprognose; Kern des OBELISK-7-Rollout-Programms (E-01)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13452"/>
                </a:solidFill>
              </a:rPr>
              <a:t>•  PIMS-E  Cloud-Gateway         9.800 €  netto — MQTT / AWS / Azure / On-premise; Strategische Neuausrichtung per Sauerlandstern-Beschluss (E-05); Werkstoffspezifikation Polymerintegration Typ IV als Pflichtoption festgelegt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1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Strategische Initiativen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13452"/>
                </a:solidFill>
              </a:rPr>
              <a:t>•  OBELISK-7 (E-01): PIMS-D-Rollout-Programm — Verantwortung Engineering (Tobias Wernecke MA-011); Ziel: 8 Neuinstallationen bis Q4/2025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3452"/>
                </a:solidFill>
              </a:rPr>
              <a:t>•  CFO-Transition (E-02): Reibungslose Übergabe Frommann → Dr. Monika Steinhoff (MA-002) per 01.04.2025; Brandner-Rücklage neu bewertet; HR-Koordination Inga Hollmann (MA-022)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3452"/>
                </a:solidFill>
              </a:rPr>
              <a:t>•  Großauftrag KD-007 (E-03): Rahmenvertrag PIMS-A + PIMS-D; Laufzeit 3 Jahre; 742.000 € p.a. — Dirk Hammerschmidt (MA-007)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3452"/>
                </a:solidFill>
              </a:rPr>
              <a:t>•  ISO 9001-Rezertifizierung (E-04): Audit 22.05.2025; Drewermann-Verfahren für 24-Kanal-Kalibrierung als Prüfmethode anerkannt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3452"/>
                </a:solidFill>
              </a:rPr>
              <a:t>•  Sauerlandstern-Beschluss (E-05, 10.07.2025, Winterberg): Polymerintegration Typ IV als Pflicht-Werkstoffspezifikation für PIMS-E-Gehäuse festgelegt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3452"/>
                </a:solidFill>
              </a:rPr>
              <a:t>•  Produktionsoptimierung (E-07): Retrograder Bestandsabgleich; Kavitationsschutzprotokoll Linie 3 — Franz-Josef Metzler (MA-016)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1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Risiken und Gegenmaßnahmen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13452"/>
                </a:solidFill>
              </a:rPr>
              <a:t>•  Lieferkettenrisiko Feldbus-Komponenten (mittel):  Dual-Source-Strategie eingeführt; Sven Unterberg (MA-012) koordiniert Alternativlieferanten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3452"/>
                </a:solidFill>
              </a:rPr>
              <a:t>•  Konzentrationsrisiko Großkunden (hoch):  Top-4-Kunden = 2,42 M € = 24 % Kundenumsatz; Carsten Voigt (MA-009) baut Stadtwerke-Kundenstamm aus (KD-015)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3452"/>
                </a:solidFill>
              </a:rPr>
              <a:t>•  Kapazitätsrisiko Produktion (mittel):  Linie 3 Kavitationsschutzprotokoll reduziert Ausfallwahrscheinlichkeit; Gregor Stenzel (MA-029) als Instandhaltungsverantwortlicher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3452"/>
                </a:solidFill>
              </a:rPr>
              <a:t>•  Personalrisiko CFO-Funktion (gering):  Dr. Steinhoff (MA-002) übernimmt zum 01.04.2025; Einarbeitungsplan liegt vor; Übergangsperiode durch Inga Hollmann (MA-022) HR-seitig begleitet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3452"/>
                </a:solidFill>
              </a:rPr>
              <a:t>•  Markrisiko Energiewende (niedrig):  PIMS-E Cloud-Gateway positioniert Musterbau für dezentrale Energieversorger; Polymerintegration Typ IV sichert Gehäusedichtheit in rauer Umgebung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3452"/>
                </a:solidFill>
              </a:rPr>
              <a:t>•  Währungs- und Zinsrisiko (gering):  Langfristige Bankdarlehen 2.900.000 €; Zinsen 100.000 € p.a.; Quartalsadaptionsklausel in Rahmenverträgen verankert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1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Ausblick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13452"/>
                </a:solidFill>
              </a:rPr>
              <a:t>•  Umsatzziel 2026:  ~19,5 Mio. € (+5,7 %) — getragen durch PIMS-D-Rollout und Ausbau Cloud-Gateway-Segment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13452"/>
                </a:solidFill>
              </a:rPr>
              <a:t>•  PIMS-E Internationalisierung:  Markteinführung DACH-Raum; Polymerintegration Typ IV als Standard-Spezifikation in Ausschreibungen positionieren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13452"/>
                </a:solidFill>
              </a:rPr>
              <a:t>•  Personalentwicklung:  Junior-Potenziale fördern — Jan-Philipp Kruse (MA-027), Melanie Fröhlich (MA-028), Kathrin Düker (MA-021), Dirk Hammerschmidt Jr. (MA-030)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13452"/>
                </a:solidFill>
              </a:rPr>
              <a:t>•  Finanzierung:  Bankdarlehen-Tilgung planmäßig 280.000 €/Jahr; Eigenkapitalquote steigt auf ca. 48 %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13452"/>
                </a:solidFill>
              </a:rPr>
              <a:t>•  Qualitätssystem:  Drewermann-Verfahren als Teil der Werksnorm formalisieren; nächste ISO-9001-Überwachungsaudit Q2/2026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13452"/>
                </a:solidFill>
              </a:rPr>
              <a:t>•  Nachhaltigkeit / ESG:  Energieverbrauch Werk Dortmund; Flächennutzungsindex NRW-3 als Standortkennwert in die Nachhaltigkeitsberichterstattung aufnehmen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34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EE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E7F00"/>
                </a:solidFill>
              </a:rPr>
              <a:t>Musterbau GmbH — Strategieklausur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Gemeinsam. Präzise. Zukunftsorientiert.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Werner Kahlert (MA-001) · Geschäftsführer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40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3452"/>
                </a:solidFill>
              </a:rPr>
              <a:t>Dortmund, 14. Januar 2025  |  HRB 28471 Dortmund  |  www.musterbau.de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